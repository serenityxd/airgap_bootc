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media/image6.png" ContentType="image/png"/>
  <Override PartName="/ppt/media/image2.png" ContentType="image/png"/>
  <Override PartName="/ppt/media/image10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.jpeg" ContentType="image/jpeg"/>
  <Override PartName="/ppt/media/image7.png" ContentType="image/png"/>
  <Override PartName="/ppt/media/image8.png" ContentType="image/png"/>
  <Override PartName="/ppt/media/image9.png" ContentType="image/png"/>
  <Override PartName="/ppt/fonts/Font_2_Canva_Sans_Bold_Bold.fntdata" ContentType="application/x-fontdata"/>
  <Override PartName="/ppt/fonts/Font_3_Droid_Sans_Regular.fntdata" ContentType="application/x-fontdata"/>
  <Override PartName="/ppt/fonts/Font_4_Droid_Sans_Bold.fntdata" ContentType="application/x-fontdata"/>
  <Override PartName="/ppt/fonts/Font_1_Canva_Sans_Regular.fntdata" ContentType="application/x-fontdata"/>
  <Override PartName="/ppt/fonts/Font_5_Noto_Sans_CJK_SC_Regular.fntdata" ContentType="application/x-fontdata"/>
  <Override PartName="/ppt/fonts/Font_6_Noto_Sans_Devanagari_Regular.fntdata" ContentType="application/x-fontdata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18288000" cy="10287000"/>
  <p:notesSz cx="7772400" cy="10058400"/>
  <p:embeddedFontLst>
    <p:embeddedFont>
      <p:font typeface="Canva Sans"/>
      <p:regular r:id="rId4"/>
    </p:embeddedFont>
    <p:embeddedFont>
      <p:font typeface="Canva Sans Bold"/>
      <p:bold r:id="rId5"/>
    </p:embeddedFont>
    <p:embeddedFont>
      <p:font typeface="Droid Sans"/>
      <p:regular r:id="rId6"/>
      <p:bold r:id="rId7"/>
    </p:embeddedFont>
    <p:embeddedFont>
      <p:font typeface="Noto Sans CJK SC"/>
      <p:regular r:id="rId8"/>
      <p:bold r:id="rId8"/>
    </p:embeddedFont>
    <p:embeddedFont>
      <p:font typeface="Noto Sans Devanagari"/>
      <p:regular r:id="rId9"/>
      <p:bold r:id="rId9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Canva_Sans_Regular.fntdata"/><Relationship Id="rId5" Type="http://schemas.openxmlformats.org/officeDocument/2006/relationships/font" Target="fonts/Font_2_Canva_Sans_Bold_Bold.fntdata"/><Relationship Id="rId6" Type="http://schemas.openxmlformats.org/officeDocument/2006/relationships/font" Target="fonts/Font_3_Droid_Sans_Regular.fntdata"/><Relationship Id="rId7" Type="http://schemas.openxmlformats.org/officeDocument/2006/relationships/font" Target="fonts/Font_4_Droid_Sans_Bold.fntdata"/><Relationship Id="rId8" Type="http://schemas.openxmlformats.org/officeDocument/2006/relationships/font" Target="fonts/Font_5_Noto_Sans_CJK_SC_Regular.fntdata"/><Relationship Id="rId9" Type="http://schemas.openxmlformats.org/officeDocument/2006/relationships/font" Target="fonts/Font_6_Noto_Sans_Devanagari_Regular.fntdata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88B923-DD11-4B7F-B70D-B71BE46888B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9BF5CB-88A4-44C2-9304-7491FD22C75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BFB10F-8321-43CA-8C71-2C84173E660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52AB1A-79BA-4602-864B-FEAA96E69C4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9E4012-6E4B-4B13-8D15-3129E4C9637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7FDEA7-82CD-4938-94B9-56B0F95B617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789C3A-8F6F-4EB3-87E6-8CE640ADE7E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F29020-632E-4E92-9A67-19693B12311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3CE19C-F214-4B83-A78E-7C00723A7D0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03C320-1F5D-4871-B471-7C91CD7C3CE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9617D7-5598-4373-B9DC-54178E0BE03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2"/>
          <p:cNvSpPr/>
          <p:nvPr/>
        </p:nvSpPr>
        <p:spPr>
          <a:xfrm>
            <a:off x="3200400" y="0"/>
            <a:ext cx="11983320" cy="7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865"/>
              </a:lnSpc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Uniform and Automated Deployment in SCVU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</p:txBody>
      </p:sp>
      <p:sp>
        <p:nvSpPr>
          <p:cNvPr id="60" name="TextBox 5"/>
          <p:cNvSpPr/>
          <p:nvPr/>
        </p:nvSpPr>
        <p:spPr>
          <a:xfrm flipV="1" rot="5408400">
            <a:off x="4185720" y="8067600"/>
            <a:ext cx="180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759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Box 6"/>
          <p:cNvSpPr/>
          <p:nvPr/>
        </p:nvSpPr>
        <p:spPr>
          <a:xfrm>
            <a:off x="457200" y="3158640"/>
            <a:ext cx="54864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Solution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i="1" lang="en-US" sz="24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Bootc (Bootable Containers)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Bootc combines OS + Applications + Configs into </a:t>
            </a: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1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 image that can be </a:t>
            </a: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atomically deployed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 to any workstation.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7"/>
          <p:cNvSpPr/>
          <p:nvPr/>
        </p:nvSpPr>
        <p:spPr>
          <a:xfrm>
            <a:off x="457200" y="1371600"/>
            <a:ext cx="6400800" cy="165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074"/>
              </a:lnSpc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Problem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How do you ensure uniform software deployment across machines in an air-gapped environment without spending hours configuring each one?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</p:txBody>
      </p:sp>
      <p:sp>
        <p:nvSpPr>
          <p:cNvPr id="63" name="TextBox 1"/>
          <p:cNvSpPr/>
          <p:nvPr/>
        </p:nvSpPr>
        <p:spPr>
          <a:xfrm>
            <a:off x="3200400" y="457200"/>
            <a:ext cx="11983320" cy="10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865"/>
              </a:lnSpc>
            </a:pPr>
            <a:r>
              <a:rPr b="0" i="1" lang="en-US" sz="30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Bootc for Air-Gapped, Reproducible Builds</a:t>
            </a:r>
            <a:endParaRPr b="0" i="1" lang="en-US" sz="30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  <a:p>
            <a:pPr algn="ctr" defTabSz="914400">
              <a:lnSpc>
                <a:spcPct val="100000"/>
              </a:lnSpc>
            </a:pPr>
            <a:r>
              <a:rPr b="0" i="1" lang="en-US" sz="18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By SCT Benson Teo</a:t>
            </a:r>
            <a:endParaRPr b="0" i="1" lang="en-US" sz="18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57200" y="5170320"/>
            <a:ext cx="5029200" cy="20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Key Features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Immutable Root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Filesystem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Container-based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builds (OCI)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Rollback and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Updates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Fast and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Reproducible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Deployments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8"/>
          <p:cNvSpPr/>
          <p:nvPr/>
        </p:nvSpPr>
        <p:spPr>
          <a:xfrm>
            <a:off x="457200" y="7041960"/>
            <a:ext cx="160020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Workflow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 rot="21584400">
            <a:off x="7317000" y="7662240"/>
            <a:ext cx="1824480" cy="113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</a:rPr>
              <a:t>Deploy to Machine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</p:txBody>
      </p:sp>
      <p:sp>
        <p:nvSpPr>
          <p:cNvPr id="67" name=""/>
          <p:cNvSpPr/>
          <p:nvPr/>
        </p:nvSpPr>
        <p:spPr>
          <a:xfrm rot="4800">
            <a:off x="9600840" y="7657920"/>
            <a:ext cx="1828080" cy="1143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</a:rPr>
              <a:t>Post-install Config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</p:txBody>
      </p:sp>
      <p:sp>
        <p:nvSpPr>
          <p:cNvPr id="68" name=""/>
          <p:cNvSpPr/>
          <p:nvPr/>
        </p:nvSpPr>
        <p:spPr>
          <a:xfrm rot="21584400">
            <a:off x="459720" y="7662240"/>
            <a:ext cx="1824480" cy="113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</a:rPr>
              <a:t>Build Image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</p:txBody>
      </p:sp>
      <p:sp>
        <p:nvSpPr>
          <p:cNvPr id="69" name=""/>
          <p:cNvSpPr/>
          <p:nvPr/>
        </p:nvSpPr>
        <p:spPr>
          <a:xfrm rot="21584400">
            <a:off x="2745720" y="7662240"/>
            <a:ext cx="1824480" cy="113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</a:rPr>
              <a:t>Export to OCI/ISO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457200" y="8458200"/>
            <a:ext cx="2057400" cy="13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" indent="-4572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  Download &amp; Install package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" indent="-4572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  Time-intensive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2743200" y="8854920"/>
            <a:ext cx="228600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Upgrade and Install OS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1"/>
          <p:cNvSpPr/>
          <p:nvPr/>
        </p:nvSpPr>
        <p:spPr>
          <a:xfrm>
            <a:off x="7314480" y="8854920"/>
            <a:ext cx="18288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Flash to Machine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Initial Install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2"/>
          <p:cNvSpPr/>
          <p:nvPr/>
        </p:nvSpPr>
        <p:spPr>
          <a:xfrm>
            <a:off x="9600480" y="8854920"/>
            <a:ext cx="18288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Run scripts for verification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286000" y="8229600"/>
            <a:ext cx="45720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572000" y="8229600"/>
            <a:ext cx="45720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143280" y="8229600"/>
            <a:ext cx="45720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7" name=""/>
          <p:cNvGraphicFramePr/>
          <p:nvPr/>
        </p:nvGraphicFramePr>
        <p:xfrm>
          <a:off x="6129360" y="3252240"/>
          <a:ext cx="5589360" cy="3819240"/>
        </p:xfrm>
        <a:graphic>
          <a:graphicData uri="http://schemas.openxmlformats.org/drawingml/2006/table">
            <a:tbl>
              <a:tblPr/>
              <a:tblGrid>
                <a:gridCol w="2794320"/>
                <a:gridCol w="2795400"/>
              </a:tblGrid>
              <a:tr h="381960">
                <a:tc gridSpan="2">
                  <a:txBody>
                    <a:bodyPr lIns="36000" rIns="36000" tIns="36000" bIns="36000" anchor="t" anchorCtr="1">
                      <a:noAutofit/>
                    </a:bodyPr>
                    <a:p>
                      <a:pPr algn="ctr"/>
                      <a:r>
                        <a:rPr b="0" lang="en-US" sz="2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Droid Sans"/>
                        </a:rPr>
                        <a:t>Stack Breakdown</a:t>
                      </a:r>
                      <a:endParaRPr b="0" lang="en-US" sz="2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 hMerge="1">
                  <a:txBody>
                    <a:bodyPr lIns="36000" rIns="36000" tIns="36000" bIns="36000" anchor="t" anchorCtr="1">
                      <a:noAutofit/>
                    </a:bodyPr>
                    <a:p>
                      <a:pPr algn="ctr"/>
                      <a:endParaRPr b="0" lang="en-US" sz="2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Stack(s)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Application(s)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Core OS &amp; Desktop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F</a:t>
                      </a: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e</a:t>
                      </a: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d</a:t>
                      </a: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o</a:t>
                      </a: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r</a:t>
                      </a: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a </a:t>
                      </a: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4</a:t>
                      </a: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3 </a:t>
                      </a: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&amp;</a:t>
                      </a: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 </a:t>
                      </a: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K</a:t>
                      </a: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D</a:t>
                      </a:r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E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Development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Python, Git, Docker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Graphics &amp; Design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CUDA, Blender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Windows Emulation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Wine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Office 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LibreOffice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File Sharing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Samba, Avahi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Cloud &amp; Containers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Openshift, Kubernetes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JS/Frontend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React, Vue, Typescript</a:t>
                      </a:r>
                      <a:endParaRPr b="0" lang="en-US" sz="2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</a:tbl>
          </a:graphicData>
        </a:graphic>
      </p:graphicFrame>
      <p:sp>
        <p:nvSpPr>
          <p:cNvPr id="78" name=""/>
          <p:cNvSpPr/>
          <p:nvPr/>
        </p:nvSpPr>
        <p:spPr>
          <a:xfrm rot="21584400">
            <a:off x="5031720" y="7662240"/>
            <a:ext cx="1824480" cy="113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</a:rPr>
              <a:t>Upload to Registry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</p:txBody>
      </p:sp>
      <p:sp>
        <p:nvSpPr>
          <p:cNvPr id="79" name="TextBox 13"/>
          <p:cNvSpPr/>
          <p:nvPr/>
        </p:nvSpPr>
        <p:spPr>
          <a:xfrm>
            <a:off x="5029200" y="8854920"/>
            <a:ext cx="18288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Image Registry for upgrading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858000" y="8229600"/>
            <a:ext cx="45720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4"/>
          <p:cNvSpPr/>
          <p:nvPr/>
        </p:nvSpPr>
        <p:spPr>
          <a:xfrm>
            <a:off x="457200" y="1371600"/>
            <a:ext cx="6400800" cy="165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074"/>
              </a:lnSpc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Problem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How do you ensure uniform software deployment across machines in an air-gapped environment without spending hours configuring each one?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12801600" y="1200240"/>
            <a:ext cx="5257800" cy="29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074"/>
              </a:lnSpc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Value Proposition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Reproducible (same system, every time)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Offline-capable (ideal for SCVU)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Fast Deployment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Customizable (add/change in Containerfile)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Reduced support (uniform and standard)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</p:txBody>
      </p:sp>
      <p:sp>
        <p:nvSpPr>
          <p:cNvPr id="83" name="TextBox 15"/>
          <p:cNvSpPr/>
          <p:nvPr/>
        </p:nvSpPr>
        <p:spPr>
          <a:xfrm>
            <a:off x="12801600" y="3974400"/>
            <a:ext cx="5257800" cy="26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074"/>
              </a:lnSpc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Limitations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Large ISO file size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Certain hardware (read: old) may have issues.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Immutable Root = Rebuild for changes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Offline packages become stale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Linux/Container learning curve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</p:txBody>
      </p:sp>
      <p:pic>
        <p:nvPicPr>
          <p:cNvPr id="84" name="" descr=""/>
          <p:cNvPicPr/>
          <p:nvPr/>
        </p:nvPicPr>
        <p:blipFill>
          <a:blip r:embed="rId2"/>
          <a:stretch/>
        </p:blipFill>
        <p:spPr>
          <a:xfrm>
            <a:off x="15404400" y="4572000"/>
            <a:ext cx="2655000" cy="38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16"/>
          <p:cNvSpPr/>
          <p:nvPr/>
        </p:nvSpPr>
        <p:spPr>
          <a:xfrm>
            <a:off x="12801600" y="6400800"/>
            <a:ext cx="5257800" cy="19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074"/>
              </a:lnSpc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N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e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x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t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 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S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t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e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p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P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l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o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t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w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t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h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n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c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o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m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n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g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t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r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a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n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m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a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g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V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a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r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a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n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t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R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p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o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t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o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r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y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u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p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g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r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a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d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P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r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p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f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o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r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u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n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t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w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d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d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p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l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o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y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m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n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</p:txBody>
      </p:sp>
      <p:sp>
        <p:nvSpPr>
          <p:cNvPr id="86" name="TextBox 17"/>
          <p:cNvSpPr/>
          <p:nvPr/>
        </p:nvSpPr>
        <p:spPr>
          <a:xfrm>
            <a:off x="12801600" y="8180280"/>
            <a:ext cx="5257800" cy="16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074"/>
              </a:lnSpc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Conclusion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Using Bootc allows us to deploy systems quicker, more consistently and more efficiently.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roid Sans"/>
            </a:endParaRPr>
          </a:p>
        </p:txBody>
      </p:sp>
      <p:pic>
        <p:nvPicPr>
          <p:cNvPr id="87" name="" descr=""/>
          <p:cNvPicPr/>
          <p:nvPr/>
        </p:nvPicPr>
        <p:blipFill>
          <a:blip r:embed="rId3"/>
          <a:stretch/>
        </p:blipFill>
        <p:spPr>
          <a:xfrm>
            <a:off x="6400800" y="2071800"/>
            <a:ext cx="2971800" cy="13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4"/>
          <a:stretch/>
        </p:blipFill>
        <p:spPr>
          <a:xfrm>
            <a:off x="8686800" y="1600200"/>
            <a:ext cx="828360" cy="82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5"/>
          <a:stretch/>
        </p:blipFill>
        <p:spPr>
          <a:xfrm>
            <a:off x="5257800" y="3515040"/>
            <a:ext cx="754560" cy="82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6"/>
          <a:stretch/>
        </p:blipFill>
        <p:spPr>
          <a:xfrm>
            <a:off x="11718720" y="3200400"/>
            <a:ext cx="993960" cy="99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" descr=""/>
          <p:cNvPicPr/>
          <p:nvPr/>
        </p:nvPicPr>
        <p:blipFill>
          <a:blip r:embed="rId7"/>
          <a:stretch/>
        </p:blipFill>
        <p:spPr>
          <a:xfrm>
            <a:off x="9372600" y="2514600"/>
            <a:ext cx="2286000" cy="614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8"/>
          <a:stretch/>
        </p:blipFill>
        <p:spPr>
          <a:xfrm>
            <a:off x="11759040" y="4200840"/>
            <a:ext cx="813960" cy="128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9"/>
          <a:stretch/>
        </p:blipFill>
        <p:spPr>
          <a:xfrm>
            <a:off x="11718720" y="5715000"/>
            <a:ext cx="100584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" descr=""/>
          <p:cNvPicPr/>
          <p:nvPr/>
        </p:nvPicPr>
        <p:blipFill>
          <a:blip r:embed="rId10"/>
          <a:stretch/>
        </p:blipFill>
        <p:spPr>
          <a:xfrm>
            <a:off x="5029200" y="5486400"/>
            <a:ext cx="941400" cy="91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LibreOffice/25.8.3.2$Linux_X86_64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DAG615mZffU</dc:identifier>
  <dc:language>en-US</dc:language>
  <cp:lastModifiedBy/>
  <cp:lastPrinted>2025-12-09T22:42:52Z</cp:lastPrinted>
  <dcterms:modified xsi:type="dcterms:W3CDTF">2025-12-09T22:42:43Z</dcterms:modified>
  <cp:revision>4</cp:revision>
  <dc:subject/>
  <dc:title>Add a heading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