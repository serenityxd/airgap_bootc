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_rels/slide1.xml.rels" ContentType="application/vnd.openxmlformats-package.relationships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media/image6.png" ContentType="image/png"/>
  <Override PartName="/ppt/media/image2.png" ContentType="image/png"/>
  <Override PartName="/ppt/media/image10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1.jpeg" ContentType="image/jpeg"/>
  <Override PartName="/ppt/media/image7.png" ContentType="image/png"/>
  <Override PartName="/ppt/media/image11.png" ContentType="image/png"/>
  <Override PartName="/ppt/media/image8.png" ContentType="image/png"/>
  <Override PartName="/ppt/media/image12.png" ContentType="image/png"/>
  <Override PartName="/ppt/media/image9.png" ContentType="image/png"/>
  <Override PartName="/ppt/fonts/Font_1_Droid_Sans_Regular.fntdata" ContentType="application/x-fontdata"/>
  <Override PartName="/ppt/fonts/Font_3_Canva_Sans_Bold_Bold.fntdata" ContentType="application/x-fontdata"/>
  <Override PartName="/ppt/fonts/Font_2_Droid_Sans_Bold.fntdata" ContentType="application/x-fontdata"/>
  <Override PartName="/ppt/fonts/Font_4_Noto_Sans_CJK_SC_Regular.fntdata" ContentType="application/x-fontdata"/>
  <Override PartName="/ppt/fonts/Font_6_Noto_Sans_Devanagari_Regular.fntdata" ContentType="application/x-fontdata"/>
  <Override PartName="/ppt/fonts/Font_5_Canva_Sans_Regular.fntdata" ContentType="application/x-fontdata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embedTrueTypeFonts="1">
  <p:sldMasterIdLst>
    <p:sldMasterId id="2147483648" r:id="rId2"/>
  </p:sldMasterIdLst>
  <p:sldIdLst>
    <p:sldId id="256" r:id="rId3"/>
  </p:sldIdLst>
  <p:sldSz cx="18288000" cy="10287000"/>
  <p:notesSz cx="7772400" cy="10058400"/>
  <p:embeddedFontLst>
    <p:embeddedFont>
      <p:font typeface="Droid Sans"/>
      <p:regular r:id="rId4"/>
      <p:bold r:id="rId5"/>
    </p:embeddedFont>
    <p:embeddedFont>
      <p:font typeface="Canva Sans Bold"/>
      <p:bold r:id="rId6"/>
    </p:embeddedFont>
    <p:embeddedFont>
      <p:font typeface="Noto Sans CJK SC"/>
      <p:regular r:id="rId7"/>
      <p:bold r:id="rId7"/>
    </p:embeddedFont>
    <p:embeddedFont>
      <p:font typeface="Canva Sans"/>
      <p:regular r:id="rId8"/>
    </p:embeddedFont>
    <p:embeddedFont>
      <p:font typeface="Noto Sans Devanagari"/>
      <p:regular r:id="rId9"/>
      <p:bold r:id="rId9"/>
    </p:embeddedFont>
  </p:embeddedFontLst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font" Target="fonts/Font_1_Droid_Sans_Regular.fntdata"/><Relationship Id="rId5" Type="http://schemas.openxmlformats.org/officeDocument/2006/relationships/font" Target="fonts/Font_2_Droid_Sans_Bold.fntdata"/><Relationship Id="rId6" Type="http://schemas.openxmlformats.org/officeDocument/2006/relationships/font" Target="fonts/Font_3_Canva_Sans_Bold_Bold.fntdata"/><Relationship Id="rId7" Type="http://schemas.openxmlformats.org/officeDocument/2006/relationships/font" Target="fonts/Font_4_Noto_Sans_CJK_SC_Regular.fntdata"/><Relationship Id="rId8" Type="http://schemas.openxmlformats.org/officeDocument/2006/relationships/font" Target="fonts/Font_5_Canva_Sans_Regular.fntdata"/><Relationship Id="rId9" Type="http://schemas.openxmlformats.org/officeDocument/2006/relationships/font" Target="fonts/Font_6_Noto_Sans_Devanagari_Regular.fntdata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B20FF76-03A8-4462-8E6D-EC9604D84439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440" cy="1161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0920" cy="585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440" cy="4690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5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6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06B93E8-A8B5-4B9C-A723-10E76523BA8F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5680" cy="565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5680" cy="80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6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E9EBFAE-CB4B-441C-8D03-F97B84639073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1680" cy="1469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edit 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Master 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title 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style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133DE4B-BFE8-435B-8CF7-7C735EA45FF3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8470815-6D7E-4454-ABD4-973D886AFC74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6680" cy="5850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li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k 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o 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d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it 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M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r 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ti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tl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 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y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l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200" cy="5850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C5FD4EF-F456-4D9B-BFB1-64455DC23A62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edit 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Master 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title 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style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008050C-87E1-4152-A4DE-96BD10798D8D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1680" cy="1361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trike="noStrike" u="none" cap="all">
                <a:solidFill>
                  <a:schemeClr val="dk1"/>
                </a:solidFill>
                <a:effectLst/>
                <a:uFillTx/>
                <a:latin typeface="Calibri"/>
              </a:rPr>
              <a:t>Click to </a:t>
            </a:r>
            <a:r>
              <a:rPr b="1" lang="en-US" sz="4000" strike="noStrike" u="none" cap="all">
                <a:solidFill>
                  <a:schemeClr val="dk1"/>
                </a:solidFill>
                <a:effectLst/>
                <a:uFillTx/>
                <a:latin typeface="Calibri"/>
              </a:rPr>
              <a:t>edit </a:t>
            </a:r>
            <a:r>
              <a:rPr b="1" lang="en-US" sz="4000" strike="noStrike" u="none" cap="all">
                <a:solidFill>
                  <a:schemeClr val="dk1"/>
                </a:solidFill>
                <a:effectLst/>
                <a:uFillTx/>
                <a:latin typeface="Calibri"/>
              </a:rPr>
              <a:t>Master </a:t>
            </a:r>
            <a:r>
              <a:rPr b="1" lang="en-US" sz="4000" strike="noStrike" u="none" cap="all">
                <a:solidFill>
                  <a:schemeClr val="dk1"/>
                </a:solidFill>
                <a:effectLst/>
                <a:uFillTx/>
                <a:latin typeface="Calibri"/>
              </a:rPr>
              <a:t>title </a:t>
            </a:r>
            <a:r>
              <a:rPr b="1" lang="en-US" sz="4000" strike="noStrike" u="none" cap="all">
                <a:solidFill>
                  <a:schemeClr val="dk1"/>
                </a:solidFill>
                <a:effectLst/>
                <a:uFillTx/>
                <a:latin typeface="Calibri"/>
              </a:rPr>
              <a:t>style</a:t>
            </a:r>
            <a:endParaRPr b="0" lang="en-US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1680" cy="1499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4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5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BDD5933-6580-40E1-9520-AE4B711ED23B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7760" cy="452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7760" cy="452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6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E979FCA-8D38-44E6-9A70-F65F7ACDCC2A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to edit 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Maste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r title </a:t>
            </a: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style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560" cy="63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560" cy="3950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000" cy="63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000" cy="3950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PlaceHolder 6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7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8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0C5C126-661A-403D-ACE6-7E78B03A3FCF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8AD1CF6-56A9-46C9-BF33-C4A511D861FF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png"/><Relationship Id="rId10" Type="http://schemas.openxmlformats.org/officeDocument/2006/relationships/image" Target="../media/image10.png"/><Relationship Id="rId11" Type="http://schemas.openxmlformats.org/officeDocument/2006/relationships/image" Target="../media/image11.png"/><Relationship Id="rId12" Type="http://schemas.openxmlformats.org/officeDocument/2006/relationships/image" Target="../media/image12.png"/><Relationship Id="rId13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tile tx="0" ty="0" sx="100000" sy="100000" algn="ctr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TextBox 2"/>
          <p:cNvSpPr/>
          <p:nvPr/>
        </p:nvSpPr>
        <p:spPr>
          <a:xfrm>
            <a:off x="3200400" y="0"/>
            <a:ext cx="11982960" cy="74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5865"/>
              </a:lnSpc>
            </a:pPr>
            <a:r>
              <a:rPr b="1" lang="en-US" sz="4000" strike="noStrike" u="none">
                <a:solidFill>
                  <a:srgbClr val="000000"/>
                </a:solidFill>
                <a:effectLst/>
                <a:uFillTx/>
                <a:latin typeface="Droid Sans"/>
                <a:ea typeface="Canva Sans Bold"/>
              </a:rPr>
              <a:t>Uniform and Automated Deployment in SCVU</a:t>
            </a:r>
            <a:endParaRPr b="0" lang="en-US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TextBox 5"/>
          <p:cNvSpPr/>
          <p:nvPr/>
        </p:nvSpPr>
        <p:spPr>
          <a:xfrm flipV="1" rot="5408400">
            <a:off x="4185720" y="8067600"/>
            <a:ext cx="1440" cy="31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4759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1" name="TextBox 6"/>
          <p:cNvSpPr/>
          <p:nvPr/>
        </p:nvSpPr>
        <p:spPr>
          <a:xfrm>
            <a:off x="457200" y="3158640"/>
            <a:ext cx="5486040" cy="210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US" sz="2600" strike="noStrike" u="none">
                <a:solidFill>
                  <a:srgbClr val="000000"/>
                </a:solidFill>
                <a:effectLst/>
                <a:uFillTx/>
                <a:latin typeface="Droid Sans"/>
                <a:ea typeface="Canva Sans"/>
              </a:rPr>
              <a:t>2. Solution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1" i="1" lang="en-US" sz="2400" strike="noStrike" u="none">
                <a:solidFill>
                  <a:srgbClr val="000000"/>
                </a:solidFill>
                <a:effectLst/>
                <a:uFillTx/>
                <a:latin typeface="Droid Sans"/>
                <a:ea typeface="Canva Sans"/>
              </a:rPr>
              <a:t>Bootc (Bootable Containers)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Droid Sans"/>
                <a:ea typeface="Canva Sans"/>
              </a:rPr>
              <a:t>Bootc combines OS + Applications + Configs into </a:t>
            </a:r>
            <a:r>
              <a:rPr b="1" lang="en-US" sz="2200" strike="noStrike" u="none">
                <a:solidFill>
                  <a:srgbClr val="000000"/>
                </a:solidFill>
                <a:effectLst/>
                <a:uFillTx/>
                <a:latin typeface="Droid Sans"/>
                <a:ea typeface="Canva Sans"/>
              </a:rPr>
              <a:t>1</a:t>
            </a: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Droid Sans"/>
                <a:ea typeface="Canva Sans"/>
              </a:rPr>
              <a:t> image that can be </a:t>
            </a:r>
            <a:r>
              <a:rPr b="1" lang="en-US" sz="2200" strike="noStrike" u="none">
                <a:solidFill>
                  <a:srgbClr val="000000"/>
                </a:solidFill>
                <a:effectLst/>
                <a:uFillTx/>
                <a:latin typeface="Droid Sans"/>
                <a:ea typeface="Canva Sans"/>
              </a:rPr>
              <a:t>atomically deployed</a:t>
            </a: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Droid Sans"/>
                <a:ea typeface="Canva Sans"/>
              </a:rPr>
              <a:t> to any workstation.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Box 7"/>
          <p:cNvSpPr/>
          <p:nvPr/>
        </p:nvSpPr>
        <p:spPr>
          <a:xfrm>
            <a:off x="457200" y="1371600"/>
            <a:ext cx="6400440" cy="164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5074"/>
              </a:lnSpc>
            </a:pPr>
            <a:r>
              <a:rPr b="1" lang="en-US" sz="2600" strike="noStrike" u="none">
                <a:solidFill>
                  <a:srgbClr val="000000"/>
                </a:solidFill>
                <a:effectLst/>
                <a:uFillTx/>
                <a:latin typeface="Droid Sans"/>
                <a:ea typeface="Canva Sans Bold"/>
              </a:rPr>
              <a:t>1. Problem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Droid Sans"/>
                <a:ea typeface="Canva Sans"/>
              </a:rPr>
              <a:t>How do you ensure uniform software deployment across machines in an air-gapped environment without spending hours configuring each one?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Box 1"/>
          <p:cNvSpPr/>
          <p:nvPr/>
        </p:nvSpPr>
        <p:spPr>
          <a:xfrm>
            <a:off x="3200400" y="457200"/>
            <a:ext cx="11982960" cy="101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5865"/>
              </a:lnSpc>
            </a:pPr>
            <a:r>
              <a:rPr b="0" i="1" lang="en-US" sz="3000" strike="noStrike" u="none">
                <a:solidFill>
                  <a:srgbClr val="000000"/>
                </a:solidFill>
                <a:effectLst/>
                <a:uFillTx/>
                <a:latin typeface="Droid Sans"/>
                <a:ea typeface="Canva Sans Bold"/>
              </a:rPr>
              <a:t>Bootc for Air-Gapped, Reproducible Builds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b="0" i="1" lang="en-US" sz="1800" strike="noStrike" u="none">
                <a:solidFill>
                  <a:srgbClr val="000000"/>
                </a:solidFill>
                <a:effectLst/>
                <a:uFillTx/>
                <a:latin typeface="Droid Sans"/>
                <a:ea typeface="Canva Sans Bold"/>
              </a:rPr>
              <a:t>By SCT Benson Teo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Box 4"/>
          <p:cNvSpPr/>
          <p:nvPr/>
        </p:nvSpPr>
        <p:spPr>
          <a:xfrm>
            <a:off x="457200" y="5170320"/>
            <a:ext cx="5028840" cy="207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US" sz="2600" strike="noStrike" u="none">
                <a:solidFill>
                  <a:srgbClr val="000000"/>
                </a:solidFill>
                <a:effectLst/>
                <a:uFillTx/>
                <a:latin typeface="Droid Sans"/>
                <a:ea typeface="Canva Sans"/>
              </a:rPr>
              <a:t>3. Key Features of Bootc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buClr>
                <a:srgbClr val="000000"/>
              </a:buClr>
              <a:buSzPct val="50000"/>
              <a:buFont typeface="Wingdings" charset="2"/>
              <a:buChar char=""/>
            </a:pP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Droid Sans"/>
                <a:ea typeface="Canva Sans"/>
              </a:rPr>
              <a:t>Immutable Root Filesystem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buClr>
                <a:srgbClr val="000000"/>
              </a:buClr>
              <a:buSzPct val="50000"/>
              <a:buFont typeface="Wingdings" charset="2"/>
              <a:buChar char=""/>
            </a:pP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Droid Sans"/>
                <a:ea typeface="Canva Sans"/>
              </a:rPr>
              <a:t>Container-based builds (OCI)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buClr>
                <a:srgbClr val="000000"/>
              </a:buClr>
              <a:buSzPct val="50000"/>
              <a:buFont typeface="Wingdings" charset="2"/>
              <a:buChar char=""/>
            </a:pP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Droid Sans"/>
                <a:ea typeface="Canva Sans"/>
              </a:rPr>
              <a:t>Rollback and Updates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buClr>
                <a:srgbClr val="000000"/>
              </a:buClr>
              <a:buSzPct val="50000"/>
              <a:buFont typeface="Wingdings" charset="2"/>
              <a:buChar char=""/>
            </a:pP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Droid Sans"/>
                <a:ea typeface="Canva Sans"/>
              </a:rPr>
              <a:t>Fast and Reproducible Deployments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Box 8"/>
          <p:cNvSpPr/>
          <p:nvPr/>
        </p:nvSpPr>
        <p:spPr>
          <a:xfrm>
            <a:off x="457200" y="7115400"/>
            <a:ext cx="1953360" cy="73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 anchorCtr="1">
            <a:spAutoFit/>
          </a:bodyPr>
          <a:p>
            <a:pPr algn="ctr" defTabSz="914400">
              <a:lnSpc>
                <a:spcPct val="100000"/>
              </a:lnSpc>
            </a:pPr>
            <a:r>
              <a:rPr b="1" lang="en-US" sz="2600" strike="noStrike" u="none">
                <a:solidFill>
                  <a:srgbClr val="000000"/>
                </a:solidFill>
                <a:effectLst/>
                <a:uFillTx/>
                <a:latin typeface="Droid Sans"/>
                <a:ea typeface="Canva Sans"/>
              </a:rPr>
              <a:t>4. Workflow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"/>
          <p:cNvSpPr/>
          <p:nvPr/>
        </p:nvSpPr>
        <p:spPr>
          <a:xfrm rot="21584400">
            <a:off x="7317000" y="7662240"/>
            <a:ext cx="1824120" cy="113436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Droid Sans"/>
              </a:rPr>
              <a:t>Deploy to Machine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"/>
          <p:cNvSpPr/>
          <p:nvPr/>
        </p:nvSpPr>
        <p:spPr>
          <a:xfrm rot="4800">
            <a:off x="9600480" y="7657560"/>
            <a:ext cx="1827720" cy="114264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Droid Sans"/>
              </a:rPr>
              <a:t>Post-install Config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"/>
          <p:cNvSpPr/>
          <p:nvPr/>
        </p:nvSpPr>
        <p:spPr>
          <a:xfrm rot="21584400">
            <a:off x="459720" y="7662240"/>
            <a:ext cx="1824120" cy="113436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Droid Sans"/>
              </a:rPr>
              <a:t>Build Image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"/>
          <p:cNvSpPr/>
          <p:nvPr/>
        </p:nvSpPr>
        <p:spPr>
          <a:xfrm rot="21584400">
            <a:off x="2745720" y="7662240"/>
            <a:ext cx="1824120" cy="113436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Droid Sans"/>
              </a:rPr>
              <a:t>Export to OCI/ISO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Box 9"/>
          <p:cNvSpPr/>
          <p:nvPr/>
        </p:nvSpPr>
        <p:spPr>
          <a:xfrm>
            <a:off x="457200" y="8458200"/>
            <a:ext cx="2057040" cy="13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ct val="100000"/>
              </a:lnSpc>
            </a:pP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" indent="-45720" defTabSz="914400">
              <a:lnSpc>
                <a:spcPct val="100000"/>
              </a:lnSpc>
              <a:buClr>
                <a:srgbClr val="000000"/>
              </a:buClr>
              <a:buSzPct val="50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Droid Sans"/>
                <a:ea typeface="Canva Sans"/>
              </a:rPr>
              <a:t>  Download &amp; Install package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" indent="-45720" defTabSz="914400">
              <a:lnSpc>
                <a:spcPct val="100000"/>
              </a:lnSpc>
              <a:buClr>
                <a:srgbClr val="000000"/>
              </a:buClr>
              <a:buSzPct val="50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Droid Sans"/>
                <a:ea typeface="Canva Sans"/>
              </a:rPr>
              <a:t>  Time-intensive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Box 10"/>
          <p:cNvSpPr/>
          <p:nvPr/>
        </p:nvSpPr>
        <p:spPr>
          <a:xfrm>
            <a:off x="2743200" y="8854920"/>
            <a:ext cx="2285640" cy="60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16000" indent="-216000" defTabSz="914400">
              <a:lnSpc>
                <a:spcPct val="100000"/>
              </a:lnSpc>
              <a:buClr>
                <a:srgbClr val="000000"/>
              </a:buClr>
              <a:buSzPct val="50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Droid Sans"/>
                <a:ea typeface="Canva Sans"/>
              </a:rPr>
              <a:t>Upgrade and Install OS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Box 11"/>
          <p:cNvSpPr/>
          <p:nvPr/>
        </p:nvSpPr>
        <p:spPr>
          <a:xfrm>
            <a:off x="7314480" y="8854920"/>
            <a:ext cx="1828440" cy="91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16000" indent="-216000" defTabSz="914400">
              <a:lnSpc>
                <a:spcPct val="100000"/>
              </a:lnSpc>
              <a:buClr>
                <a:srgbClr val="000000"/>
              </a:buClr>
              <a:buSzPct val="50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Droid Sans"/>
                <a:ea typeface="Canva Sans"/>
              </a:rPr>
              <a:t>Flash to Machine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buClr>
                <a:srgbClr val="000000"/>
              </a:buClr>
              <a:buSzPct val="50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Droid Sans"/>
                <a:ea typeface="Canva Sans"/>
              </a:rPr>
              <a:t>Initial Install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Box 12"/>
          <p:cNvSpPr/>
          <p:nvPr/>
        </p:nvSpPr>
        <p:spPr>
          <a:xfrm>
            <a:off x="9600480" y="8854920"/>
            <a:ext cx="1828440" cy="91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16000" indent="-216000" defTabSz="914400">
              <a:lnSpc>
                <a:spcPct val="100000"/>
              </a:lnSpc>
              <a:buClr>
                <a:srgbClr val="000000"/>
              </a:buClr>
              <a:buSzPct val="50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Droid Sans"/>
                <a:ea typeface="Canva Sans"/>
              </a:rPr>
              <a:t>Run scripts for verification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"/>
          <p:cNvSpPr/>
          <p:nvPr/>
        </p:nvSpPr>
        <p:spPr>
          <a:xfrm>
            <a:off x="2286000" y="8229600"/>
            <a:ext cx="457200" cy="36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"/>
          <p:cNvSpPr/>
          <p:nvPr/>
        </p:nvSpPr>
        <p:spPr>
          <a:xfrm>
            <a:off x="4572000" y="8229600"/>
            <a:ext cx="457200" cy="36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"/>
          <p:cNvSpPr/>
          <p:nvPr/>
        </p:nvSpPr>
        <p:spPr>
          <a:xfrm>
            <a:off x="9143280" y="8229600"/>
            <a:ext cx="457200" cy="36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77" name=""/>
          <p:cNvGraphicFramePr/>
          <p:nvPr/>
        </p:nvGraphicFramePr>
        <p:xfrm>
          <a:off x="6858000" y="1653840"/>
          <a:ext cx="5004360" cy="5209920"/>
        </p:xfrm>
        <a:graphic>
          <a:graphicData uri="http://schemas.openxmlformats.org/drawingml/2006/table">
            <a:tbl>
              <a:tblPr/>
              <a:tblGrid>
                <a:gridCol w="2501280"/>
                <a:gridCol w="2503080"/>
              </a:tblGrid>
              <a:tr h="570960">
                <a:tc gridSpan="2"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7200"/>
                        </a:spcBef>
                        <a:spcAft>
                          <a:spcPts val="865"/>
                        </a:spcAft>
                      </a:pPr>
                      <a:r>
                        <a:rPr b="0" lang="en-US" sz="21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Droid Sans"/>
                        </a:rPr>
                        <a:t>Stack Breakdown</a:t>
                      </a:r>
                      <a:endParaRPr b="0" lang="en-US" sz="21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Droid Sans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666666"/>
                      </a:solidFill>
                      <a:prstDash val="solid"/>
                    </a:lnL>
                    <a:lnR w="7200">
                      <a:solidFill>
                        <a:srgbClr val="666666"/>
                      </a:solidFill>
                      <a:prstDash val="solid"/>
                    </a:lnR>
                    <a:lnT w="7200">
                      <a:solidFill>
                        <a:srgbClr val="666666"/>
                      </a:solidFill>
                      <a:prstDash val="solid"/>
                    </a:lnT>
                    <a:lnB w="7200">
                      <a:solidFill>
                        <a:srgbClr val="666666"/>
                      </a:solidFill>
                      <a:prstDash val="solid"/>
                    </a:lnB>
                    <a:solidFill>
                      <a:srgbClr val="5983b0"/>
                    </a:solidFill>
                  </a:tcPr>
                </a:tc>
                <a:tc hMerge="1">
                  <a:txBody>
                    <a:bodyPr lIns="36000" rIns="36000" tIns="36000" bIns="36000" anchor="t">
                      <a:noAutofit/>
                    </a:bodyPr>
                    <a:p>
                      <a:endParaRPr b="0" lang="en-US" sz="1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Droid Sans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666666"/>
                      </a:solidFill>
                      <a:prstDash val="solid"/>
                    </a:lnL>
                    <a:lnR w="7200">
                      <a:solidFill>
                        <a:srgbClr val="666666"/>
                      </a:solidFill>
                      <a:prstDash val="solid"/>
                    </a:lnR>
                    <a:lnT w="7200">
                      <a:solidFill>
                        <a:srgbClr val="666666"/>
                      </a:solidFill>
                      <a:prstDash val="solid"/>
                    </a:lnT>
                    <a:lnB w="7200">
                      <a:solidFill>
                        <a:srgbClr val="666666"/>
                      </a:solidFill>
                      <a:prstDash val="solid"/>
                    </a:lnB>
                    <a:solidFill>
                      <a:srgbClr val="5983b0"/>
                    </a:solidFill>
                  </a:tcPr>
                </a:tc>
              </a:tr>
              <a:tr h="504360"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7200"/>
                        </a:spcBef>
                        <a:spcAft>
                          <a:spcPts val="865"/>
                        </a:spcAft>
                      </a:pPr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Droid Sans"/>
                        </a:rPr>
                        <a:t>Stack(s)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Droid Sans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666666"/>
                      </a:solidFill>
                      <a:prstDash val="solid"/>
                    </a:lnL>
                    <a:lnR w="7200">
                      <a:solidFill>
                        <a:srgbClr val="666666"/>
                      </a:solidFill>
                      <a:prstDash val="solid"/>
                    </a:lnR>
                    <a:lnT w="7200">
                      <a:solidFill>
                        <a:srgbClr val="666666"/>
                      </a:solidFill>
                      <a:prstDash val="solid"/>
                    </a:lnT>
                    <a:lnB w="7200">
                      <a:solidFill>
                        <a:srgbClr val="666666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7200"/>
                        </a:spcBef>
                        <a:spcAft>
                          <a:spcPts val="865"/>
                        </a:spcAft>
                      </a:pPr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Droid Sans"/>
                        </a:rPr>
                        <a:t>Application(s)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Droid Sans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666666"/>
                      </a:solidFill>
                      <a:prstDash val="solid"/>
                    </a:lnL>
                    <a:lnR w="7200">
                      <a:solidFill>
                        <a:srgbClr val="666666"/>
                      </a:solidFill>
                      <a:prstDash val="solid"/>
                    </a:lnR>
                    <a:lnT w="7200">
                      <a:solidFill>
                        <a:srgbClr val="666666"/>
                      </a:solidFill>
                      <a:prstDash val="solid"/>
                    </a:lnT>
                    <a:lnB w="7200">
                      <a:solidFill>
                        <a:srgbClr val="666666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</a:tr>
              <a:tr h="504360"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7200"/>
                        </a:spcBef>
                        <a:spcAft>
                          <a:spcPts val="865"/>
                        </a:spcAft>
                      </a:pPr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Droid Sans"/>
                        </a:rPr>
                        <a:t>Core OS &amp; Desktop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Droid Sans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666666"/>
                      </a:solidFill>
                      <a:prstDash val="solid"/>
                    </a:lnL>
                    <a:lnR w="7200">
                      <a:solidFill>
                        <a:srgbClr val="666666"/>
                      </a:solidFill>
                      <a:prstDash val="solid"/>
                    </a:lnR>
                    <a:lnT w="7200">
                      <a:solidFill>
                        <a:srgbClr val="666666"/>
                      </a:solidFill>
                      <a:prstDash val="solid"/>
                    </a:lnT>
                    <a:lnB w="7200">
                      <a:solidFill>
                        <a:srgbClr val="66666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7200"/>
                        </a:spcBef>
                        <a:spcAft>
                          <a:spcPts val="865"/>
                        </a:spcAft>
                      </a:pPr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Droid Sans"/>
                        </a:rPr>
                        <a:t>Fedora 43 &amp; KDE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Droid Sans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666666"/>
                      </a:solidFill>
                      <a:prstDash val="solid"/>
                    </a:lnL>
                    <a:lnR w="7200">
                      <a:solidFill>
                        <a:srgbClr val="666666"/>
                      </a:solidFill>
                      <a:prstDash val="solid"/>
                    </a:lnR>
                    <a:lnT w="7200">
                      <a:solidFill>
                        <a:srgbClr val="666666"/>
                      </a:solidFill>
                      <a:prstDash val="solid"/>
                    </a:lnT>
                    <a:lnB w="7200">
                      <a:solidFill>
                        <a:srgbClr val="66666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4360"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7200"/>
                        </a:spcBef>
                        <a:spcAft>
                          <a:spcPts val="865"/>
                        </a:spcAft>
                      </a:pPr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Droid Sans"/>
                        </a:rPr>
                        <a:t>Development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Droid Sans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666666"/>
                      </a:solidFill>
                      <a:prstDash val="solid"/>
                    </a:lnL>
                    <a:lnR w="7200">
                      <a:solidFill>
                        <a:srgbClr val="666666"/>
                      </a:solidFill>
                      <a:prstDash val="solid"/>
                    </a:lnR>
                    <a:lnT w="7200">
                      <a:solidFill>
                        <a:srgbClr val="666666"/>
                      </a:solidFill>
                      <a:prstDash val="solid"/>
                    </a:lnT>
                    <a:lnB w="7200">
                      <a:solidFill>
                        <a:srgbClr val="666666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7200"/>
                        </a:spcBef>
                        <a:spcAft>
                          <a:spcPts val="865"/>
                        </a:spcAft>
                      </a:pPr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Droid Sans"/>
                        </a:rPr>
                        <a:t>Python, Git, Docker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Droid Sans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666666"/>
                      </a:solidFill>
                      <a:prstDash val="solid"/>
                    </a:lnL>
                    <a:lnR w="7200">
                      <a:solidFill>
                        <a:srgbClr val="666666"/>
                      </a:solidFill>
                      <a:prstDash val="solid"/>
                    </a:lnR>
                    <a:lnT w="7200">
                      <a:solidFill>
                        <a:srgbClr val="666666"/>
                      </a:solidFill>
                      <a:prstDash val="solid"/>
                    </a:lnT>
                    <a:lnB w="7200">
                      <a:solidFill>
                        <a:srgbClr val="666666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</a:tr>
              <a:tr h="504360"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7200"/>
                        </a:spcBef>
                        <a:spcAft>
                          <a:spcPts val="865"/>
                        </a:spcAft>
                      </a:pPr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Droid Sans"/>
                        </a:rPr>
                        <a:t>Graphics &amp; Design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Droid Sans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666666"/>
                      </a:solidFill>
                      <a:prstDash val="solid"/>
                    </a:lnL>
                    <a:lnR w="7200">
                      <a:solidFill>
                        <a:srgbClr val="666666"/>
                      </a:solidFill>
                      <a:prstDash val="solid"/>
                    </a:lnR>
                    <a:lnT w="7200">
                      <a:solidFill>
                        <a:srgbClr val="666666"/>
                      </a:solidFill>
                      <a:prstDash val="solid"/>
                    </a:lnT>
                    <a:lnB w="7200">
                      <a:solidFill>
                        <a:srgbClr val="66666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7200"/>
                        </a:spcBef>
                        <a:spcAft>
                          <a:spcPts val="865"/>
                        </a:spcAft>
                      </a:pPr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Droid Sans"/>
                        </a:rPr>
                        <a:t>CUDA, Blender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Droid Sans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666666"/>
                      </a:solidFill>
                      <a:prstDash val="solid"/>
                    </a:lnL>
                    <a:lnR w="7200">
                      <a:solidFill>
                        <a:srgbClr val="666666"/>
                      </a:solidFill>
                      <a:prstDash val="solid"/>
                    </a:lnR>
                    <a:lnT w="7200">
                      <a:solidFill>
                        <a:srgbClr val="666666"/>
                      </a:solidFill>
                      <a:prstDash val="solid"/>
                    </a:lnT>
                    <a:lnB w="7200">
                      <a:solidFill>
                        <a:srgbClr val="66666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4360"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7200"/>
                        </a:spcBef>
                        <a:spcAft>
                          <a:spcPts val="865"/>
                        </a:spcAft>
                      </a:pPr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Droid Sans"/>
                        </a:rPr>
                        <a:t>Windows Emulation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Droid Sans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666666"/>
                      </a:solidFill>
                      <a:prstDash val="solid"/>
                    </a:lnL>
                    <a:lnR w="7200">
                      <a:solidFill>
                        <a:srgbClr val="666666"/>
                      </a:solidFill>
                      <a:prstDash val="solid"/>
                    </a:lnR>
                    <a:lnT w="7200">
                      <a:solidFill>
                        <a:srgbClr val="666666"/>
                      </a:solidFill>
                      <a:prstDash val="solid"/>
                    </a:lnT>
                    <a:lnB w="7200">
                      <a:solidFill>
                        <a:srgbClr val="666666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7200"/>
                        </a:spcBef>
                        <a:spcAft>
                          <a:spcPts val="865"/>
                        </a:spcAft>
                      </a:pPr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Droid Sans"/>
                        </a:rPr>
                        <a:t>Wine, Lutris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Droid Sans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666666"/>
                      </a:solidFill>
                      <a:prstDash val="solid"/>
                    </a:lnL>
                    <a:lnR w="7200">
                      <a:solidFill>
                        <a:srgbClr val="666666"/>
                      </a:solidFill>
                      <a:prstDash val="solid"/>
                    </a:lnR>
                    <a:lnT w="7200">
                      <a:solidFill>
                        <a:srgbClr val="666666"/>
                      </a:solidFill>
                      <a:prstDash val="solid"/>
                    </a:lnT>
                    <a:lnB w="7200">
                      <a:solidFill>
                        <a:srgbClr val="666666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</a:tr>
              <a:tr h="504360"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7200"/>
                        </a:spcBef>
                        <a:spcAft>
                          <a:spcPts val="865"/>
                        </a:spcAft>
                      </a:pPr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Droid Sans"/>
                        </a:rPr>
                        <a:t>Office 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Droid Sans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666666"/>
                      </a:solidFill>
                      <a:prstDash val="solid"/>
                    </a:lnL>
                    <a:lnR w="7200">
                      <a:solidFill>
                        <a:srgbClr val="666666"/>
                      </a:solidFill>
                      <a:prstDash val="solid"/>
                    </a:lnR>
                    <a:lnT w="7200">
                      <a:solidFill>
                        <a:srgbClr val="666666"/>
                      </a:solidFill>
                      <a:prstDash val="solid"/>
                    </a:lnT>
                    <a:lnB w="7200">
                      <a:solidFill>
                        <a:srgbClr val="66666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7200"/>
                        </a:spcBef>
                        <a:spcAft>
                          <a:spcPts val="865"/>
                        </a:spcAft>
                      </a:pPr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Droid Sans"/>
                        </a:rPr>
                        <a:t>LibreOffice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Droid Sans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666666"/>
                      </a:solidFill>
                      <a:prstDash val="solid"/>
                    </a:lnL>
                    <a:lnR w="7200">
                      <a:solidFill>
                        <a:srgbClr val="666666"/>
                      </a:solidFill>
                      <a:prstDash val="solid"/>
                    </a:lnR>
                    <a:lnT w="7200">
                      <a:solidFill>
                        <a:srgbClr val="666666"/>
                      </a:solidFill>
                      <a:prstDash val="solid"/>
                    </a:lnT>
                    <a:lnB w="7200">
                      <a:solidFill>
                        <a:srgbClr val="66666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4360"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7200"/>
                        </a:spcBef>
                        <a:spcAft>
                          <a:spcPts val="865"/>
                        </a:spcAft>
                      </a:pPr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Droid Sans"/>
                        </a:rPr>
                        <a:t>Machine Learning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Droid Sans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666666"/>
                      </a:solidFill>
                      <a:prstDash val="solid"/>
                    </a:lnL>
                    <a:lnR w="7200">
                      <a:solidFill>
                        <a:srgbClr val="666666"/>
                      </a:solidFill>
                      <a:prstDash val="solid"/>
                    </a:lnR>
                    <a:lnT w="7200">
                      <a:solidFill>
                        <a:srgbClr val="666666"/>
                      </a:solidFill>
                      <a:prstDash val="solid"/>
                    </a:lnT>
                    <a:lnB w="7200">
                      <a:solidFill>
                        <a:srgbClr val="666666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7200"/>
                        </a:spcBef>
                        <a:spcAft>
                          <a:spcPts val="865"/>
                        </a:spcAft>
                      </a:pPr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Droid Sans"/>
                        </a:rPr>
                        <a:t>Numpy, pandas, Jupyter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Droid Sans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666666"/>
                      </a:solidFill>
                      <a:prstDash val="solid"/>
                    </a:lnL>
                    <a:lnR w="7200">
                      <a:solidFill>
                        <a:srgbClr val="666666"/>
                      </a:solidFill>
                      <a:prstDash val="solid"/>
                    </a:lnR>
                    <a:lnT w="7200">
                      <a:solidFill>
                        <a:srgbClr val="666666"/>
                      </a:solidFill>
                      <a:prstDash val="solid"/>
                    </a:lnT>
                    <a:lnB w="7200">
                      <a:solidFill>
                        <a:srgbClr val="666666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</a:tr>
              <a:tr h="504360"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7200"/>
                        </a:spcBef>
                        <a:spcAft>
                          <a:spcPts val="865"/>
                        </a:spcAft>
                      </a:pPr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Droid Sans"/>
                        </a:rPr>
                        <a:t>Deployment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Droid Sans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666666"/>
                      </a:solidFill>
                      <a:prstDash val="solid"/>
                    </a:lnL>
                    <a:lnR w="7200">
                      <a:solidFill>
                        <a:srgbClr val="666666"/>
                      </a:solidFill>
                      <a:prstDash val="solid"/>
                    </a:lnR>
                    <a:lnT w="7200">
                      <a:solidFill>
                        <a:srgbClr val="666666"/>
                      </a:solidFill>
                      <a:prstDash val="solid"/>
                    </a:lnT>
                    <a:lnB w="7200">
                      <a:solidFill>
                        <a:srgbClr val="66666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7200"/>
                        </a:spcBef>
                        <a:spcAft>
                          <a:spcPts val="865"/>
                        </a:spcAft>
                      </a:pPr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Droid Sans"/>
                        </a:rPr>
                        <a:t>Openshift, Kubernetes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Droid Sans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666666"/>
                      </a:solidFill>
                      <a:prstDash val="solid"/>
                    </a:lnL>
                    <a:lnR w="7200">
                      <a:solidFill>
                        <a:srgbClr val="666666"/>
                      </a:solidFill>
                      <a:prstDash val="solid"/>
                    </a:lnR>
                    <a:lnT w="7200">
                      <a:solidFill>
                        <a:srgbClr val="666666"/>
                      </a:solidFill>
                      <a:prstDash val="solid"/>
                    </a:lnT>
                    <a:lnB w="7200">
                      <a:solidFill>
                        <a:srgbClr val="66666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5800"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7200"/>
                        </a:spcBef>
                        <a:spcAft>
                          <a:spcPts val="865"/>
                        </a:spcAft>
                      </a:pPr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Droid Sans"/>
                        </a:rPr>
                        <a:t>JS/Frontend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Droid Sans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666666"/>
                      </a:solidFill>
                      <a:prstDash val="solid"/>
                    </a:lnL>
                    <a:lnR w="7200">
                      <a:solidFill>
                        <a:srgbClr val="666666"/>
                      </a:solidFill>
                      <a:prstDash val="solid"/>
                    </a:lnR>
                    <a:lnT w="7200">
                      <a:solidFill>
                        <a:srgbClr val="666666"/>
                      </a:solidFill>
                      <a:prstDash val="solid"/>
                    </a:lnT>
                    <a:lnB w="7200">
                      <a:solidFill>
                        <a:srgbClr val="666666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spcBef>
                          <a:spcPts val="7200"/>
                        </a:spcBef>
                        <a:spcAft>
                          <a:spcPts val="865"/>
                        </a:spcAft>
                      </a:pPr>
                      <a:r>
                        <a:rPr b="0" lang="en-US" sz="18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Droid Sans"/>
                        </a:rPr>
                        <a:t>React, Vue, Typescript</a:t>
                      </a:r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Droid Sans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666666"/>
                      </a:solidFill>
                      <a:prstDash val="solid"/>
                    </a:lnL>
                    <a:lnR w="7200">
                      <a:solidFill>
                        <a:srgbClr val="666666"/>
                      </a:solidFill>
                      <a:prstDash val="solid"/>
                    </a:lnR>
                    <a:lnT w="7200">
                      <a:solidFill>
                        <a:srgbClr val="666666"/>
                      </a:solidFill>
                      <a:prstDash val="solid"/>
                    </a:lnT>
                    <a:lnB w="7200">
                      <a:solidFill>
                        <a:srgbClr val="666666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</a:tr>
            </a:tbl>
          </a:graphicData>
        </a:graphic>
      </p:graphicFrame>
      <p:sp>
        <p:nvSpPr>
          <p:cNvPr id="78" name=""/>
          <p:cNvSpPr/>
          <p:nvPr/>
        </p:nvSpPr>
        <p:spPr>
          <a:xfrm rot="21584400">
            <a:off x="5031720" y="7662240"/>
            <a:ext cx="1824120" cy="113436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Droid Sans"/>
              </a:rPr>
              <a:t>Upload to Registry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Box 13"/>
          <p:cNvSpPr/>
          <p:nvPr/>
        </p:nvSpPr>
        <p:spPr>
          <a:xfrm>
            <a:off x="5029200" y="8854920"/>
            <a:ext cx="1828440" cy="91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16000" indent="-216000" defTabSz="914400">
              <a:lnSpc>
                <a:spcPct val="100000"/>
              </a:lnSpc>
              <a:buClr>
                <a:srgbClr val="000000"/>
              </a:buClr>
              <a:buSzPct val="50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Droid Sans"/>
                <a:ea typeface="Canva Sans"/>
              </a:rPr>
              <a:t>Image Registry for upgrading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"/>
          <p:cNvSpPr/>
          <p:nvPr/>
        </p:nvSpPr>
        <p:spPr>
          <a:xfrm>
            <a:off x="6858000" y="8229600"/>
            <a:ext cx="457200" cy="360"/>
          </a:xfrm>
          <a:prstGeom prst="line">
            <a:avLst/>
          </a:prstGeom>
          <a:ln w="0">
            <a:solidFill>
              <a:srgbClr val="3465a4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-45000" bIns="-4500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Box 3"/>
          <p:cNvSpPr/>
          <p:nvPr/>
        </p:nvSpPr>
        <p:spPr>
          <a:xfrm>
            <a:off x="13087440" y="1248120"/>
            <a:ext cx="5257800" cy="232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5074"/>
              </a:lnSpc>
            </a:pPr>
            <a:r>
              <a:rPr b="1" lang="en-US" sz="2600" strike="noStrike" u="none">
                <a:solidFill>
                  <a:srgbClr val="000000"/>
                </a:solidFill>
                <a:effectLst/>
                <a:uFillTx/>
                <a:latin typeface="Droid Sans"/>
                <a:ea typeface="Canva Sans Bold"/>
              </a:rPr>
              <a:t>5. Value Proposition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buClr>
                <a:srgbClr val="000000"/>
              </a:buClr>
              <a:buSzPct val="50000"/>
              <a:buFont typeface="Wingdings" charset="2"/>
              <a:buChar char=""/>
            </a:pP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Droid Sans"/>
                <a:ea typeface="Canva Sans"/>
              </a:rPr>
              <a:t>Reproducible 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buClr>
                <a:srgbClr val="000000"/>
              </a:buClr>
              <a:buSzPct val="50000"/>
              <a:buFont typeface="Wingdings" charset="2"/>
              <a:buChar char=""/>
            </a:pP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Droid Sans"/>
                <a:ea typeface="Canva Sans"/>
              </a:rPr>
              <a:t>Offline-capable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buClr>
                <a:srgbClr val="000000"/>
              </a:buClr>
              <a:buSzPct val="50000"/>
              <a:buFont typeface="Wingdings" charset="2"/>
              <a:buChar char=""/>
            </a:pP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Droid Sans"/>
                <a:ea typeface="Canva Sans"/>
              </a:rPr>
              <a:t>Fast Deployment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buClr>
                <a:srgbClr val="000000"/>
              </a:buClr>
              <a:buSzPct val="50000"/>
              <a:buFont typeface="Wingdings" charset="2"/>
              <a:buChar char=""/>
            </a:pP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Droid Sans"/>
                <a:ea typeface="Canva Sans"/>
              </a:rPr>
              <a:t>Customizable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buClr>
                <a:srgbClr val="000000"/>
              </a:buClr>
              <a:buSzPct val="50000"/>
              <a:buFont typeface="Wingdings" charset="2"/>
              <a:buChar char=""/>
            </a:pP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Droid Sans"/>
                <a:ea typeface="Canva Sans"/>
              </a:rPr>
              <a:t>Reduced support 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Box 15"/>
          <p:cNvSpPr/>
          <p:nvPr/>
        </p:nvSpPr>
        <p:spPr>
          <a:xfrm>
            <a:off x="13087800" y="3705480"/>
            <a:ext cx="5257440" cy="232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5074"/>
              </a:lnSpc>
            </a:pPr>
            <a:r>
              <a:rPr b="1" lang="en-US" sz="2600" strike="noStrike" u="none">
                <a:solidFill>
                  <a:srgbClr val="000000"/>
                </a:solidFill>
                <a:effectLst/>
                <a:uFillTx/>
                <a:latin typeface="Droid Sans"/>
                <a:ea typeface="Canva Sans Bold"/>
              </a:rPr>
              <a:t>6. Limitations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buClr>
                <a:srgbClr val="000000"/>
              </a:buClr>
              <a:buSzPct val="50000"/>
              <a:buFont typeface="Wingdings" charset="2"/>
              <a:buChar char=""/>
            </a:pP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Droid Sans"/>
                <a:ea typeface="Canva Sans"/>
              </a:rPr>
              <a:t>Large ISO file size (15GB)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buClr>
                <a:srgbClr val="000000"/>
              </a:buClr>
              <a:buSzPct val="50000"/>
              <a:buFont typeface="Wingdings" charset="2"/>
              <a:buChar char=""/>
            </a:pP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Droid Sans"/>
                <a:ea typeface="Canva Sans"/>
              </a:rPr>
              <a:t>Certain hardware may have issues.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buClr>
                <a:srgbClr val="000000"/>
              </a:buClr>
              <a:buSzPct val="50000"/>
              <a:buFont typeface="Wingdings" charset="2"/>
              <a:buChar char=""/>
            </a:pP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Droid Sans"/>
                <a:ea typeface="Canva Sans"/>
              </a:rPr>
              <a:t>Immutable Root = Rebuild for changes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buClr>
                <a:srgbClr val="000000"/>
              </a:buClr>
              <a:buSzPct val="50000"/>
              <a:buFont typeface="Wingdings" charset="2"/>
              <a:buChar char=""/>
            </a:pP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Droid Sans"/>
                <a:ea typeface="Canva Sans"/>
              </a:rPr>
              <a:t>Offline packages become stale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buClr>
                <a:srgbClr val="000000"/>
              </a:buClr>
              <a:buSzPct val="50000"/>
              <a:buFont typeface="Wingdings" charset="2"/>
              <a:buChar char=""/>
            </a:pP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Droid Sans"/>
                <a:ea typeface="Canva Sans"/>
              </a:rPr>
              <a:t>Linux/Container learning curve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Box 16"/>
          <p:cNvSpPr/>
          <p:nvPr/>
        </p:nvSpPr>
        <p:spPr>
          <a:xfrm>
            <a:off x="13087800" y="6064200"/>
            <a:ext cx="5257440" cy="198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5074"/>
              </a:lnSpc>
            </a:pPr>
            <a:r>
              <a:rPr b="1" lang="en-US" sz="2600" strike="noStrike" u="none">
                <a:solidFill>
                  <a:srgbClr val="000000"/>
                </a:solidFill>
                <a:effectLst/>
                <a:uFillTx/>
                <a:latin typeface="Droid Sans"/>
                <a:ea typeface="Canva Sans Bold"/>
              </a:rPr>
              <a:t>7. Next Steps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buClr>
                <a:srgbClr val="000000"/>
              </a:buClr>
              <a:buSzPct val="50000"/>
              <a:buFont typeface="Wingdings" charset="2"/>
              <a:buChar char=""/>
            </a:pP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Droid Sans"/>
                <a:ea typeface="Canva Sans"/>
              </a:rPr>
              <a:t>Pilot with incoming trainees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buClr>
                <a:srgbClr val="000000"/>
              </a:buClr>
              <a:buSzPct val="50000"/>
              <a:buFont typeface="Wingdings" charset="2"/>
              <a:buChar char=""/>
            </a:pP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Droid Sans"/>
                <a:ea typeface="Canva Sans"/>
              </a:rPr>
              <a:t>Image Variants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buClr>
                <a:srgbClr val="000000"/>
              </a:buClr>
              <a:buSzPct val="50000"/>
              <a:buFont typeface="Wingdings" charset="2"/>
              <a:buChar char=""/>
            </a:pP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Droid Sans"/>
                <a:ea typeface="Canva Sans"/>
              </a:rPr>
              <a:t>Repository upgrades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buClr>
                <a:srgbClr val="000000"/>
              </a:buClr>
              <a:buSzPct val="50000"/>
              <a:buFont typeface="Wingdings" charset="2"/>
              <a:buChar char=""/>
            </a:pP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Droid Sans"/>
                <a:ea typeface="Canva Sans"/>
              </a:rPr>
              <a:t>Prep for unit wide deployment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Box 17"/>
          <p:cNvSpPr/>
          <p:nvPr/>
        </p:nvSpPr>
        <p:spPr>
          <a:xfrm>
            <a:off x="13087440" y="8228160"/>
            <a:ext cx="5257440" cy="16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5074"/>
              </a:lnSpc>
            </a:pPr>
            <a:r>
              <a:rPr b="1" lang="en-US" sz="2600" strike="noStrike" u="none">
                <a:solidFill>
                  <a:srgbClr val="000000"/>
                </a:solidFill>
                <a:effectLst/>
                <a:uFillTx/>
                <a:latin typeface="Droid Sans"/>
                <a:ea typeface="Canva Sans Bold"/>
              </a:rPr>
              <a:t>8. Conclusion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2200" strike="noStrike" u="none">
                <a:solidFill>
                  <a:srgbClr val="000000"/>
                </a:solidFill>
                <a:effectLst/>
                <a:uFillTx/>
                <a:latin typeface="Droid Sans"/>
                <a:ea typeface="Canva Sans"/>
              </a:rPr>
              <a:t>Using Bootc allows us to deploy systems quicker, more consistently and more efficiently.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5" name="" descr=""/>
          <p:cNvPicPr/>
          <p:nvPr/>
        </p:nvPicPr>
        <p:blipFill>
          <a:blip r:embed="rId2"/>
          <a:srcRect l="7690" t="-1061" r="65231" b="0"/>
          <a:stretch/>
        </p:blipFill>
        <p:spPr>
          <a:xfrm>
            <a:off x="11916720" y="2639880"/>
            <a:ext cx="449280" cy="766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6" name="" descr=""/>
          <p:cNvPicPr/>
          <p:nvPr/>
        </p:nvPicPr>
        <p:blipFill>
          <a:blip r:embed="rId3"/>
          <a:stretch/>
        </p:blipFill>
        <p:spPr>
          <a:xfrm>
            <a:off x="12404160" y="2845440"/>
            <a:ext cx="354600" cy="354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7" name="" descr=""/>
          <p:cNvPicPr/>
          <p:nvPr/>
        </p:nvPicPr>
        <p:blipFill>
          <a:blip r:embed="rId4"/>
          <a:stretch/>
        </p:blipFill>
        <p:spPr>
          <a:xfrm>
            <a:off x="11944080" y="3271680"/>
            <a:ext cx="394920" cy="433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8" name="" descr=""/>
          <p:cNvPicPr/>
          <p:nvPr/>
        </p:nvPicPr>
        <p:blipFill>
          <a:blip r:embed="rId5"/>
          <a:srcRect l="0" t="0" r="68239" b="0"/>
          <a:stretch/>
        </p:blipFill>
        <p:spPr>
          <a:xfrm>
            <a:off x="11913480" y="3785400"/>
            <a:ext cx="456120" cy="385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9" name="" descr=""/>
          <p:cNvPicPr/>
          <p:nvPr/>
        </p:nvPicPr>
        <p:blipFill>
          <a:blip r:embed="rId6"/>
          <a:stretch/>
        </p:blipFill>
        <p:spPr>
          <a:xfrm>
            <a:off x="11984760" y="4230360"/>
            <a:ext cx="313200" cy="494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0" name="" descr=""/>
          <p:cNvPicPr/>
          <p:nvPr/>
        </p:nvPicPr>
        <p:blipFill>
          <a:blip r:embed="rId7"/>
          <a:stretch/>
        </p:blipFill>
        <p:spPr>
          <a:xfrm>
            <a:off x="11871360" y="6411960"/>
            <a:ext cx="540000" cy="491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1" name="" descr=""/>
          <p:cNvPicPr/>
          <p:nvPr/>
        </p:nvPicPr>
        <p:blipFill>
          <a:blip r:embed="rId8"/>
          <a:stretch/>
        </p:blipFill>
        <p:spPr>
          <a:xfrm>
            <a:off x="11869200" y="5820480"/>
            <a:ext cx="544680" cy="529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2" name="" descr=""/>
          <p:cNvPicPr/>
          <p:nvPr/>
        </p:nvPicPr>
        <p:blipFill>
          <a:blip r:embed="rId9"/>
          <a:srcRect l="0" t="0" r="0" b="31962"/>
          <a:stretch/>
        </p:blipFill>
        <p:spPr>
          <a:xfrm>
            <a:off x="12074760" y="3271680"/>
            <a:ext cx="1013040" cy="387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3" name="" descr=""/>
          <p:cNvPicPr/>
          <p:nvPr/>
        </p:nvPicPr>
        <p:blipFill>
          <a:blip r:embed="rId10"/>
          <a:srcRect l="8778" t="32618" r="71752" b="33710"/>
          <a:stretch/>
        </p:blipFill>
        <p:spPr>
          <a:xfrm>
            <a:off x="11862000" y="4654080"/>
            <a:ext cx="558720" cy="644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4" name="" descr=""/>
          <p:cNvPicPr/>
          <p:nvPr/>
        </p:nvPicPr>
        <p:blipFill>
          <a:blip r:embed="rId11"/>
          <a:stretch/>
        </p:blipFill>
        <p:spPr>
          <a:xfrm>
            <a:off x="12382200" y="4255560"/>
            <a:ext cx="398520" cy="398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5" name="" descr=""/>
          <p:cNvPicPr/>
          <p:nvPr/>
        </p:nvPicPr>
        <p:blipFill>
          <a:blip r:embed="rId12"/>
          <a:stretch/>
        </p:blipFill>
        <p:spPr>
          <a:xfrm>
            <a:off x="11902680" y="5251680"/>
            <a:ext cx="477360" cy="559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6" name=""/>
          <p:cNvSpPr/>
          <p:nvPr/>
        </p:nvSpPr>
        <p:spPr>
          <a:xfrm>
            <a:off x="234720" y="3084480"/>
            <a:ext cx="6528960" cy="0"/>
          </a:xfrm>
          <a:prstGeom prst="line">
            <a:avLst/>
          </a:prstGeom>
          <a:ln w="12600">
            <a:solidFill>
              <a:srgbClr val="3465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-51120" bIns="-5112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"/>
          <p:cNvSpPr/>
          <p:nvPr/>
        </p:nvSpPr>
        <p:spPr>
          <a:xfrm>
            <a:off x="234720" y="5069880"/>
            <a:ext cx="6528960" cy="0"/>
          </a:xfrm>
          <a:prstGeom prst="line">
            <a:avLst/>
          </a:prstGeom>
          <a:ln w="12600">
            <a:solidFill>
              <a:srgbClr val="3465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-51120" bIns="-5112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"/>
          <p:cNvSpPr/>
          <p:nvPr/>
        </p:nvSpPr>
        <p:spPr>
          <a:xfrm>
            <a:off x="234720" y="7033320"/>
            <a:ext cx="6528960" cy="0"/>
          </a:xfrm>
          <a:prstGeom prst="line">
            <a:avLst/>
          </a:prstGeom>
          <a:ln w="12600">
            <a:solidFill>
              <a:srgbClr val="3465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-51120" bIns="-5112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"/>
          <p:cNvSpPr/>
          <p:nvPr/>
        </p:nvSpPr>
        <p:spPr>
          <a:xfrm>
            <a:off x="12891960" y="1476360"/>
            <a:ext cx="0" cy="8363880"/>
          </a:xfrm>
          <a:prstGeom prst="line">
            <a:avLst/>
          </a:prstGeom>
          <a:ln w="12600">
            <a:solidFill>
              <a:srgbClr val="3465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"/>
          <p:cNvSpPr/>
          <p:nvPr/>
        </p:nvSpPr>
        <p:spPr>
          <a:xfrm>
            <a:off x="12998520" y="3758400"/>
            <a:ext cx="5047920" cy="0"/>
          </a:xfrm>
          <a:prstGeom prst="line">
            <a:avLst/>
          </a:prstGeom>
          <a:ln w="12600">
            <a:solidFill>
              <a:srgbClr val="3465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-51120" bIns="-5112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"/>
          <p:cNvSpPr/>
          <p:nvPr/>
        </p:nvSpPr>
        <p:spPr>
          <a:xfrm>
            <a:off x="12998520" y="6191280"/>
            <a:ext cx="5047920" cy="0"/>
          </a:xfrm>
          <a:prstGeom prst="line">
            <a:avLst/>
          </a:prstGeom>
          <a:ln w="12600">
            <a:solidFill>
              <a:srgbClr val="3465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-51120" bIns="-5112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"/>
          <p:cNvSpPr/>
          <p:nvPr/>
        </p:nvSpPr>
        <p:spPr>
          <a:xfrm>
            <a:off x="12998520" y="8301240"/>
            <a:ext cx="5047920" cy="0"/>
          </a:xfrm>
          <a:prstGeom prst="line">
            <a:avLst/>
          </a:prstGeom>
          <a:ln w="12600">
            <a:solidFill>
              <a:srgbClr val="3465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-51120" bIns="-5112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"/>
          <p:cNvSpPr/>
          <p:nvPr/>
        </p:nvSpPr>
        <p:spPr>
          <a:xfrm>
            <a:off x="6796080" y="1476360"/>
            <a:ext cx="0" cy="5542920"/>
          </a:xfrm>
          <a:prstGeom prst="line">
            <a:avLst/>
          </a:prstGeom>
          <a:ln w="12600">
            <a:solidFill>
              <a:srgbClr val="3465a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ctr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</TotalTime>
  <Application>LibreOffice/25.8.3.2$Linux_X86_64 LibreOffice_project/580$Build-2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/>
  <dc:description/>
  <dc:identifier>DAG615mZffU</dc:identifier>
  <dc:language>en-US</dc:language>
  <cp:lastModifiedBy/>
  <cp:lastPrinted>2025-12-10T20:41:31Z</cp:lastPrinted>
  <dcterms:modified xsi:type="dcterms:W3CDTF">2025-12-10T20:41:47Z</dcterms:modified>
  <cp:revision>6</cp:revision>
  <dc:subject/>
  <dc:title>Add a heading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